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56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78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021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457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986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9865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195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044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939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818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21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6940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9776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2884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574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8892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7362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876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BB760E-1EA3-49B4-9A9C-5E5766B20708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C12562C-7DBF-4605-8708-1997F09522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298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230E9-21E4-49B6-AF93-1C6A2A7D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b="1" dirty="0"/>
              <a:t>Preparación del entorno de desarrollo</a:t>
            </a:r>
          </a:p>
        </p:txBody>
      </p:sp>
      <p:pic>
        <p:nvPicPr>
          <p:cNvPr id="6146" name="Picture 2" descr="Tipos de entornos de desarrollo integrado y sus ventajas | UNIR">
            <a:extLst>
              <a:ext uri="{FF2B5EF4-FFF2-40B4-BE49-F238E27FC236}">
                <a16:creationId xmlns:a16="http://schemas.microsoft.com/office/drawing/2014/main" id="{58387326-7D63-40C3-A9C0-091ECDF1D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582" y="2268440"/>
            <a:ext cx="3269659" cy="18378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966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F6DB9-05F0-4BD9-AA19-B7AAECCB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requisitos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DD425F-3810-428C-8EDF-97F2FBAE3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>
                <a:solidFill>
                  <a:schemeClr val="tx1"/>
                </a:solidFill>
              </a:rPr>
              <a:t>NODE JS</a:t>
            </a:r>
          </a:p>
          <a:p>
            <a:r>
              <a:rPr lang="es-MX" b="1" dirty="0">
                <a:solidFill>
                  <a:schemeClr val="tx1"/>
                </a:solidFill>
              </a:rPr>
              <a:t>BABEL</a:t>
            </a:r>
          </a:p>
          <a:p>
            <a:r>
              <a:rPr lang="es-MX" b="1" dirty="0">
                <a:solidFill>
                  <a:schemeClr val="tx1"/>
                </a:solidFill>
              </a:rPr>
              <a:t>WEBPACK</a:t>
            </a:r>
          </a:p>
          <a:p>
            <a:r>
              <a:rPr lang="es-MX" b="1" dirty="0">
                <a:solidFill>
                  <a:schemeClr val="tx1"/>
                </a:solidFill>
              </a:rPr>
              <a:t>REACT JS</a:t>
            </a:r>
          </a:p>
          <a:p>
            <a:r>
              <a:rPr lang="es-MX" b="1" dirty="0">
                <a:solidFill>
                  <a:schemeClr val="tx1"/>
                </a:solidFill>
              </a:rPr>
              <a:t>VISUAL STUDIO CODE</a:t>
            </a:r>
          </a:p>
          <a:p>
            <a:r>
              <a:rPr lang="es-MX" b="1" dirty="0">
                <a:solidFill>
                  <a:schemeClr val="tx1"/>
                </a:solidFill>
              </a:rPr>
              <a:t>THUNDER CLIENT (VS CODE)</a:t>
            </a:r>
          </a:p>
        </p:txBody>
      </p:sp>
      <p:pic>
        <p:nvPicPr>
          <p:cNvPr id="7172" name="Picture 4" descr="GitHub - joseluisgs/EntornosDesarrollo-02-2021-2022: Entornos de Desarrollo  - 02 Entornos de Desarrollo. 1DAM. Curso 2021-2022">
            <a:extLst>
              <a:ext uri="{FF2B5EF4-FFF2-40B4-BE49-F238E27FC236}">
                <a16:creationId xmlns:a16="http://schemas.microsoft.com/office/drawing/2014/main" id="{7008C81D-7D22-4F89-BEBE-2894BB976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0" y="1140883"/>
            <a:ext cx="4762500" cy="2705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59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2AE20-AD4E-41AD-82F9-068E3BDFF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2043545"/>
            <a:ext cx="8001000" cy="1385455"/>
          </a:xfrm>
          <a:noFill/>
        </p:spPr>
        <p:txBody>
          <a:bodyPr>
            <a:normAutofit/>
          </a:bodyPr>
          <a:lstStyle/>
          <a:p>
            <a:r>
              <a:rPr lang="es-MX" sz="8000" b="1" dirty="0"/>
              <a:t>ECMASCRIPT 6</a:t>
            </a:r>
          </a:p>
        </p:txBody>
      </p:sp>
      <p:pic>
        <p:nvPicPr>
          <p:cNvPr id="1026" name="Picture 2" descr="Qué es ECMAScript 6? | Aulab Hackademy">
            <a:extLst>
              <a:ext uri="{FF2B5EF4-FFF2-40B4-BE49-F238E27FC236}">
                <a16:creationId xmlns:a16="http://schemas.microsoft.com/office/drawing/2014/main" id="{B009F5A1-C0AB-4593-B089-EEDDA6F13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6389" l="10000" r="90000">
                        <a14:foregroundMark x1="33438" y1="89583" x2="62656" y2="96389"/>
                        <a14:foregroundMark x1="62656" y1="96389" x2="70625" y2="9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744" y="3429000"/>
            <a:ext cx="4341091" cy="24418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57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1B32C-CAA5-460B-A7E8-4B7784FA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¿Qué es ecmascript?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BBDA53-A50F-49A2-A46D-BA9174C4C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715491"/>
            <a:ext cx="8534400" cy="2041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ECMAScript (o abreviado ES) es la especificación en la que se basa JavaScript. ES nace de la organización ECMA International, cuyo objetivo es desarrollar estándares y reportes técnicos para facilitar el uso de tecnologías de la información.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2050" name="Picture 2" descr="Evricom is now part of ECMA | Evricom">
            <a:extLst>
              <a:ext uri="{FF2B5EF4-FFF2-40B4-BE49-F238E27FC236}">
                <a16:creationId xmlns:a16="http://schemas.microsoft.com/office/drawing/2014/main" id="{1D7F9C45-1297-4D38-BE12-F5231035F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50" b="90000" l="10000" r="90000">
                        <a14:foregroundMark x1="13625" y1="57250" x2="15000" y2="79500"/>
                        <a14:foregroundMark x1="32000" y1="65250" x2="31750" y2="65250"/>
                        <a14:foregroundMark x1="31625" y1="65250" x2="31375" y2="66250"/>
                        <a14:foregroundMark x1="31250" y1="67000" x2="32000" y2="72750"/>
                        <a14:foregroundMark x1="32000" y1="72750" x2="32000" y2="72750"/>
                        <a14:foregroundMark x1="55500" y1="69000" x2="55500" y2="69000"/>
                        <a14:foregroundMark x1="55500" y1="69000" x2="56500" y2="72500"/>
                        <a14:foregroundMark x1="52000" y1="78750" x2="52750" y2="65250"/>
                        <a14:foregroundMark x1="52750" y1="65250" x2="52875" y2="64750"/>
                        <a14:foregroundMark x1="63500" y1="62500" x2="65000" y2="76250"/>
                        <a14:foregroundMark x1="65000" y1="76250" x2="65250" y2="77000"/>
                        <a14:foregroundMark x1="78250" y1="77000" x2="84500" y2="76250"/>
                        <a14:foregroundMark x1="84500" y1="76250" x2="84625" y2="76250"/>
                        <a14:foregroundMark x1="48875" y1="12250" x2="50875" y2="5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698" y="308650"/>
            <a:ext cx="4647428" cy="2323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23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DDDEB-0D21-4EF5-95EA-C83BC560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Ventajas de ECMAScript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99AE6-F6F1-48E5-97C1-47624150A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18837"/>
            <a:ext cx="8534400" cy="4164059"/>
          </a:xfrm>
        </p:spPr>
        <p:txBody>
          <a:bodyPr>
            <a:normAutofit/>
          </a:bodyPr>
          <a:lstStyle/>
          <a:p>
            <a:endParaRPr lang="es-MX" b="1" dirty="0">
              <a:solidFill>
                <a:schemeClr val="tx1"/>
              </a:solidFill>
            </a:endParaRPr>
          </a:p>
          <a:p>
            <a:r>
              <a:rPr lang="es-MX" b="1" dirty="0">
                <a:solidFill>
                  <a:schemeClr val="tx1"/>
                </a:solidFill>
              </a:rPr>
              <a:t>Funciones de flecha (</a:t>
            </a:r>
            <a:r>
              <a:rPr lang="es-MX" b="1" dirty="0" err="1">
                <a:solidFill>
                  <a:schemeClr val="tx1"/>
                </a:solidFill>
              </a:rPr>
              <a:t>arrow</a:t>
            </a:r>
            <a:r>
              <a:rPr lang="es-MX" b="1" dirty="0">
                <a:solidFill>
                  <a:schemeClr val="tx1"/>
                </a:solidFill>
              </a:rPr>
              <a:t> </a:t>
            </a:r>
            <a:r>
              <a:rPr lang="es-MX" b="1" dirty="0" err="1">
                <a:solidFill>
                  <a:schemeClr val="tx1"/>
                </a:solidFill>
              </a:rPr>
              <a:t>functions</a:t>
            </a:r>
            <a:r>
              <a:rPr lang="es-MX" b="1" dirty="0">
                <a:solidFill>
                  <a:schemeClr val="tx1"/>
                </a:solidFill>
              </a:rPr>
              <a:t>) </a:t>
            </a:r>
          </a:p>
          <a:p>
            <a:r>
              <a:rPr lang="es-MX" b="1" dirty="0" err="1">
                <a:solidFill>
                  <a:schemeClr val="tx1"/>
                </a:solidFill>
              </a:rPr>
              <a:t>Let</a:t>
            </a:r>
            <a:r>
              <a:rPr lang="es-MX" b="1" dirty="0">
                <a:solidFill>
                  <a:schemeClr val="tx1"/>
                </a:solidFill>
              </a:rPr>
              <a:t> y </a:t>
            </a:r>
            <a:r>
              <a:rPr lang="es-MX" b="1" dirty="0" err="1">
                <a:solidFill>
                  <a:schemeClr val="tx1"/>
                </a:solidFill>
              </a:rPr>
              <a:t>Const</a:t>
            </a:r>
            <a:endParaRPr lang="es-MX" b="1" dirty="0">
              <a:solidFill>
                <a:schemeClr val="tx1"/>
              </a:solidFill>
            </a:endParaRPr>
          </a:p>
          <a:p>
            <a:r>
              <a:rPr lang="es-MX" b="1" dirty="0">
                <a:solidFill>
                  <a:schemeClr val="tx1"/>
                </a:solidFill>
              </a:rPr>
              <a:t>Clases</a:t>
            </a:r>
          </a:p>
          <a:p>
            <a:r>
              <a:rPr lang="es-MX" b="1" dirty="0">
                <a:solidFill>
                  <a:schemeClr val="tx1"/>
                </a:solidFill>
              </a:rPr>
              <a:t>Métodos Privados </a:t>
            </a:r>
          </a:p>
          <a:p>
            <a:r>
              <a:rPr lang="es-MX" b="1" dirty="0">
                <a:solidFill>
                  <a:schemeClr val="tx1"/>
                </a:solidFill>
              </a:rPr>
              <a:t>FETCH</a:t>
            </a:r>
          </a:p>
          <a:p>
            <a:r>
              <a:rPr lang="es-MX" b="1" dirty="0">
                <a:solidFill>
                  <a:schemeClr val="tx1"/>
                </a:solidFill>
              </a:rPr>
              <a:t>Desestructuración</a:t>
            </a:r>
          </a:p>
          <a:p>
            <a:r>
              <a:rPr lang="es-MX" b="1" dirty="0">
                <a:solidFill>
                  <a:schemeClr val="tx1"/>
                </a:solidFill>
              </a:rPr>
              <a:t>Templete </a:t>
            </a:r>
            <a:r>
              <a:rPr lang="es-MX" b="1" dirty="0" err="1">
                <a:solidFill>
                  <a:schemeClr val="tx1"/>
                </a:solidFill>
              </a:rPr>
              <a:t>String</a:t>
            </a:r>
            <a:endParaRPr lang="es-MX" b="1" dirty="0">
              <a:solidFill>
                <a:schemeClr val="tx1"/>
              </a:solidFill>
            </a:endParaRPr>
          </a:p>
          <a:p>
            <a:r>
              <a:rPr lang="es-MX" b="1" dirty="0" err="1">
                <a:solidFill>
                  <a:schemeClr val="tx1"/>
                </a:solidFill>
              </a:rPr>
              <a:t>Map</a:t>
            </a:r>
            <a:r>
              <a:rPr lang="es-MX" b="1" dirty="0">
                <a:solidFill>
                  <a:schemeClr val="tx1"/>
                </a:solidFill>
              </a:rPr>
              <a:t> y Set</a:t>
            </a:r>
          </a:p>
          <a:p>
            <a:pPr marL="0" indent="0">
              <a:buNone/>
            </a:pPr>
            <a:endParaRPr lang="es-MX" b="1" dirty="0">
              <a:solidFill>
                <a:schemeClr val="tx1"/>
              </a:solidFill>
            </a:endParaRPr>
          </a:p>
          <a:p>
            <a:endParaRPr lang="es-MX" dirty="0"/>
          </a:p>
        </p:txBody>
      </p:sp>
      <p:pic>
        <p:nvPicPr>
          <p:cNvPr id="3074" name="Picture 2" descr="ECMAScript 2015, 2016, 2017, 2018, 2019, 2020, 2021 / Хабр">
            <a:extLst>
              <a:ext uri="{FF2B5EF4-FFF2-40B4-BE49-F238E27FC236}">
                <a16:creationId xmlns:a16="http://schemas.microsoft.com/office/drawing/2014/main" id="{238C2581-8781-493C-AFDE-8DA884D1F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432" y="1270745"/>
            <a:ext cx="4502630" cy="28602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52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3EAED-115C-4670-BA9C-7ACCAB50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¿Por Qué Es Necesario Transformar El Código Js?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97425C-AC1A-4925-A67C-8FA3D68D5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890981"/>
            <a:ext cx="8534400" cy="1410085"/>
          </a:xfrm>
        </p:spPr>
        <p:txBody>
          <a:bodyPr/>
          <a:lstStyle/>
          <a:p>
            <a:pPr algn="just"/>
            <a:r>
              <a:rPr lang="es-MX" dirty="0">
                <a:solidFill>
                  <a:schemeClr val="tx1"/>
                </a:solidFill>
              </a:rPr>
              <a:t>JavaScript es un lenguaje que no para de evolucionar y que cada año agrega nuevas características a su estándar. El estándar de JavaScript, conocido como ECMAScript.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098" name="Picture 2" descr="Qué es JavaScript? (Cómo funciona) – Soluciones Inába">
            <a:extLst>
              <a:ext uri="{FF2B5EF4-FFF2-40B4-BE49-F238E27FC236}">
                <a16:creationId xmlns:a16="http://schemas.microsoft.com/office/drawing/2014/main" id="{E004D31D-A152-4983-A1A7-77AC72928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4" b="91603" l="9922" r="89991">
                        <a14:foregroundMark x1="42559" y1="90204" x2="59965" y2="91603"/>
                        <a14:foregroundMark x1="59965" y1="91603" x2="63272" y2="88677"/>
                        <a14:foregroundMark x1="16971" y1="67303" x2="14795" y2="83206"/>
                        <a14:foregroundMark x1="19843" y1="75445" x2="19582" y2="64504"/>
                        <a14:foregroundMark x1="17232" y1="67684" x2="14795" y2="59924"/>
                        <a14:foregroundMark x1="14534" y1="60687" x2="13229" y2="578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630" y="398701"/>
            <a:ext cx="3181920" cy="2176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09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FCF02-0EBF-45D6-8474-914FB90A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¿Qué es babel?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7DFEA3-1177-4A50-BC27-C1A8ADDE6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946151"/>
            <a:ext cx="8534400" cy="1727200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Babel es un "compilador" (o transpilador) para JavaScript. Básicamente permite transformar código escrito con las últimas y novedosas características de JavaScript y transformarlo en un código que sea entendido por navegadores más antiguos.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8D3D8A1-43AB-4021-9C87-536286026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42" y="660649"/>
            <a:ext cx="3305645" cy="172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9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A937B-1480-4A0E-9EBF-7EADDE1C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Instalación De Babel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A9A56E-96D7-40B2-9EE6-D34A39CD2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1261532"/>
            <a:ext cx="9441921" cy="3225799"/>
          </a:xfrm>
        </p:spPr>
        <p:txBody>
          <a:bodyPr>
            <a:normAutofit/>
          </a:bodyPr>
          <a:lstStyle/>
          <a:p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npm</a:t>
            </a:r>
            <a:r>
              <a:rPr lang="es-MX" sz="2400" b="1" i="0" cap="none" dirty="0">
                <a:solidFill>
                  <a:schemeClr val="tx1"/>
                </a:solidFill>
                <a:effectLst/>
                <a:latin typeface="SFMono-Regular"/>
              </a:rPr>
              <a:t> i --</a:t>
            </a:r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save-dev</a:t>
            </a:r>
            <a:r>
              <a:rPr lang="es-MX" sz="2400" b="1" i="0" cap="none" dirty="0">
                <a:solidFill>
                  <a:schemeClr val="tx1"/>
                </a:solidFill>
                <a:effectLst/>
                <a:latin typeface="SFMono-Regular"/>
              </a:rPr>
              <a:t> @babel/core @babel/cli @babel/preset-env</a:t>
            </a:r>
          </a:p>
          <a:p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--</a:t>
            </a:r>
            <a:r>
              <a:rPr lang="es-MX" sz="2400" b="0" i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save</a:t>
            </a:r>
            <a:r>
              <a:rPr lang="es-MX" sz="2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SFMono-Regular"/>
              </a:rPr>
              <a:t>-dev</a:t>
            </a:r>
            <a:r>
              <a:rPr lang="es-MX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SFMono-Regular"/>
              </a:rPr>
              <a:t>  //guarda los paquetes como dependencias de desarrollo</a:t>
            </a:r>
            <a:endParaRPr lang="es-MX" sz="2400" b="0" i="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SFMono-Regular"/>
            </a:endParaRPr>
          </a:p>
          <a:p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@</a:t>
            </a:r>
            <a:r>
              <a:rPr lang="es-MX" sz="2400" b="0" i="0" cap="non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babel/core   //paquete principal de babel</a:t>
            </a:r>
          </a:p>
          <a:p>
            <a:r>
              <a:rPr lang="es-MX" sz="2400" b="0" i="0" cap="non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@babel/cli     </a:t>
            </a:r>
            <a:r>
              <a:rPr lang="es-MX" sz="2400" cap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SFMono-Regular"/>
              </a:rPr>
              <a:t>//línea de comandos </a:t>
            </a:r>
          </a:p>
          <a:p>
            <a:r>
              <a:rPr lang="es-MX" sz="2400" b="0" i="0" cap="non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@babel/preset-env  </a:t>
            </a:r>
            <a:r>
              <a:rPr lang="es-MX" sz="2400" cap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SFMono-Regular"/>
              </a:rPr>
              <a:t>//preset  (conjunto de reglas preconfiguradas)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39501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DE773-50C6-48F1-A4D8-DE33D5D5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Configuración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3BBD6-1F78-49A7-86C9-427B622AE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2400" b="1" dirty="0">
                <a:solidFill>
                  <a:schemeClr val="tx1"/>
                </a:solidFill>
              </a:rPr>
              <a:t>Añadir un nuevo objeto al archivo </a:t>
            </a:r>
            <a:r>
              <a:rPr lang="es-MX" sz="2400" b="1" dirty="0" err="1">
                <a:solidFill>
                  <a:schemeClr val="tx1"/>
                </a:solidFill>
              </a:rPr>
              <a:t>package.json</a:t>
            </a:r>
            <a:r>
              <a:rPr lang="es-MX" sz="2400" b="1" dirty="0">
                <a:solidFill>
                  <a:schemeClr val="tx1"/>
                </a:solidFill>
              </a:rPr>
              <a:t> con el siguiente contenido:</a:t>
            </a:r>
          </a:p>
          <a:p>
            <a:pPr marL="0" indent="0">
              <a:buNone/>
            </a:pPr>
            <a:endParaRPr lang="es-MX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"scripts": {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        "</a:t>
            </a:r>
            <a:r>
              <a:rPr lang="es-MX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build</a:t>
            </a: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"babel </a:t>
            </a:r>
            <a:r>
              <a:rPr lang="es-MX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src</a:t>
            </a: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-d </a:t>
            </a:r>
            <a:r>
              <a:rPr lang="es-MX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controller</a:t>
            </a: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15057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92747-ABE1-4D30-B262-573776D9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Configuración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FB1DE2-306A-4E66-B8F4-58FA9EE7C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801532"/>
          </a:xfrm>
        </p:spPr>
        <p:txBody>
          <a:bodyPr/>
          <a:lstStyle/>
          <a:p>
            <a:r>
              <a:rPr lang="es-MX" sz="2400" b="1" dirty="0">
                <a:solidFill>
                  <a:schemeClr val="tx1"/>
                </a:solidFill>
              </a:rPr>
              <a:t>Crear archivo de configuración de babel en la raíz del proyecto con el siguiente nombre: 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tx1"/>
                </a:solidFill>
              </a:rPr>
              <a:t>	</a:t>
            </a: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  <a:r>
              <a:rPr lang="es-MX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babelrc</a:t>
            </a:r>
            <a:endParaRPr lang="es-MX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s-MX" sz="2400" b="1" dirty="0">
                <a:solidFill>
                  <a:schemeClr val="tx1"/>
                </a:solidFill>
              </a:rPr>
              <a:t>Crear un objeto indicando el preset que se utilizara.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tx1"/>
                </a:solidFill>
              </a:rPr>
              <a:t>	</a:t>
            </a: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{ 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		"</a:t>
            </a:r>
            <a:r>
              <a:rPr lang="es-MX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presets</a:t>
            </a: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["@babel/</a:t>
            </a:r>
            <a:r>
              <a:rPr lang="es-MX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preset-env</a:t>
            </a: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"] </a:t>
            </a:r>
          </a:p>
          <a:p>
            <a:pPr marL="0" indent="0">
              <a:buNone/>
            </a:pPr>
            <a:r>
              <a:rPr lang="es-MX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	}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404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1DCB2-FA3A-46E5-B9D7-49C894D6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¿Qué es Webpack?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021048-85C7-42E2-A40B-934E863EE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734734"/>
            <a:ext cx="8534400" cy="1752598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Webpack es un empacador de módulos (module </a:t>
            </a:r>
            <a:r>
              <a:rPr lang="es-MX" dirty="0" err="1">
                <a:solidFill>
                  <a:schemeClr val="tx1"/>
                </a:solidFill>
              </a:rPr>
              <a:t>bundler</a:t>
            </a:r>
            <a:r>
              <a:rPr lang="es-MX" dirty="0">
                <a:solidFill>
                  <a:schemeClr val="tx1"/>
                </a:solidFill>
              </a:rPr>
              <a:t>) para JavaScript, que toma los archivos y dependencias de un proyecto y los transforma en un paquete optimizado.</a:t>
            </a:r>
          </a:p>
        </p:txBody>
      </p:sp>
      <p:pic>
        <p:nvPicPr>
          <p:cNvPr id="5122" name="Picture 2" descr="webpack의 hmr 사용 시 멀티 파일 라우팅 하는 방법 | by sig03 | Medium">
            <a:extLst>
              <a:ext uri="{FF2B5EF4-FFF2-40B4-BE49-F238E27FC236}">
                <a16:creationId xmlns:a16="http://schemas.microsoft.com/office/drawing/2014/main" id="{58D8A80B-F95D-4CAE-8EB7-5EFDD73A46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667" b="85000" l="37500" r="62500">
                        <a14:foregroundMark x1="39800" y1="82857" x2="40600" y2="78571"/>
                        <a14:foregroundMark x1="43500" y1="79762" x2="44500" y2="79762"/>
                        <a14:foregroundMark x1="46500" y1="77619" x2="46700" y2="80476"/>
                        <a14:foregroundMark x1="50300" y1="85000" x2="50300" y2="82381"/>
                        <a14:foregroundMark x1="55300" y1="83333" x2="55300" y2="80714"/>
                        <a14:foregroundMark x1="57070" y1="79286" x2="56800" y2="80000"/>
                        <a14:foregroundMark x1="57250" y1="78810" x2="57070" y2="79286"/>
                        <a14:foregroundMark x1="57700" y1="77619" x2="57250" y2="78810"/>
                        <a14:foregroundMark x1="59300" y1="81905" x2="60100" y2="79762"/>
                        <a14:foregroundMark x1="48900" y1="16667" x2="48900" y2="16667"/>
                        <a14:backgroundMark x1="44600" y1="78810" x2="44600" y2="78810"/>
                        <a14:backgroundMark x1="57300" y1="79762" x2="57300" y2="79762"/>
                        <a14:backgroundMark x1="57000" y1="79762" x2="57000" y2="79762"/>
                        <a14:backgroundMark x1="57300" y1="79286" x2="57300" y2="79286"/>
                        <a14:backgroundMark x1="57300" y1="78810" x2="57300" y2="78810"/>
                        <a14:backgroundMark x1="57300" y1="79524" x2="57300" y2="795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444" t="8731" r="34356" b="7883"/>
          <a:stretch/>
        </p:blipFill>
        <p:spPr bwMode="auto">
          <a:xfrm>
            <a:off x="3906756" y="389467"/>
            <a:ext cx="2089311" cy="2345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999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09C81-0098-46B0-B8E4-13CFF763A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¿Para qué se usa?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6E1F35-7273-4838-BFC4-2B0CD356A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475788" cy="4072467"/>
          </a:xfrm>
        </p:spPr>
        <p:txBody>
          <a:bodyPr>
            <a:normAutofit/>
          </a:bodyPr>
          <a:lstStyle/>
          <a:p>
            <a:pPr algn="just"/>
            <a:r>
              <a:rPr lang="es-MX" b="1" dirty="0">
                <a:solidFill>
                  <a:schemeClr val="tx1"/>
                </a:solidFill>
              </a:rPr>
              <a:t>Empaquetar archivos: </a:t>
            </a:r>
            <a:r>
              <a:rPr lang="es-MX" dirty="0">
                <a:solidFill>
                  <a:schemeClr val="tx1"/>
                </a:solidFill>
              </a:rPr>
              <a:t>Junta todos los archivos (.</a:t>
            </a:r>
            <a:r>
              <a:rPr lang="es-MX" dirty="0" err="1">
                <a:solidFill>
                  <a:schemeClr val="tx1"/>
                </a:solidFill>
              </a:rPr>
              <a:t>js</a:t>
            </a:r>
            <a:r>
              <a:rPr lang="es-MX" dirty="0">
                <a:solidFill>
                  <a:schemeClr val="tx1"/>
                </a:solidFill>
              </a:rPr>
              <a:t>, .</a:t>
            </a:r>
            <a:r>
              <a:rPr lang="es-MX" dirty="0" err="1">
                <a:solidFill>
                  <a:schemeClr val="tx1"/>
                </a:solidFill>
              </a:rPr>
              <a:t>css</a:t>
            </a:r>
            <a:r>
              <a:rPr lang="es-MX" dirty="0">
                <a:solidFill>
                  <a:schemeClr val="tx1"/>
                </a:solidFill>
              </a:rPr>
              <a:t>, imágenes, etc.) en un solo archivo o en varios optimizados.</a:t>
            </a:r>
          </a:p>
          <a:p>
            <a:pPr algn="just"/>
            <a:r>
              <a:rPr lang="es-MX" dirty="0">
                <a:solidFill>
                  <a:schemeClr val="tx1"/>
                </a:solidFill>
              </a:rPr>
              <a:t> </a:t>
            </a:r>
            <a:r>
              <a:rPr lang="es-MX" b="1" dirty="0">
                <a:solidFill>
                  <a:schemeClr val="tx1"/>
                </a:solidFill>
              </a:rPr>
              <a:t>Optimización del código: </a:t>
            </a:r>
            <a:r>
              <a:rPr lang="es-MX" dirty="0">
                <a:solidFill>
                  <a:schemeClr val="tx1"/>
                </a:solidFill>
              </a:rPr>
              <a:t>Minimiza archivos, elimina código no usado (</a:t>
            </a:r>
            <a:r>
              <a:rPr lang="es-MX" dirty="0" err="1">
                <a:solidFill>
                  <a:schemeClr val="tx1"/>
                </a:solidFill>
              </a:rPr>
              <a:t>tree</a:t>
            </a:r>
            <a:r>
              <a:rPr lang="es-MX" dirty="0">
                <a:solidFill>
                  <a:schemeClr val="tx1"/>
                </a:solidFill>
              </a:rPr>
              <a:t> </a:t>
            </a:r>
            <a:r>
              <a:rPr lang="es-MX" dirty="0" err="1">
                <a:solidFill>
                  <a:schemeClr val="tx1"/>
                </a:solidFill>
              </a:rPr>
              <a:t>shaking</a:t>
            </a:r>
            <a:r>
              <a:rPr lang="es-MX" dirty="0">
                <a:solidFill>
                  <a:schemeClr val="tx1"/>
                </a:solidFill>
              </a:rPr>
              <a:t>) y divide el código en partes más pequeñas (</a:t>
            </a:r>
            <a:r>
              <a:rPr lang="es-MX" dirty="0" err="1">
                <a:solidFill>
                  <a:schemeClr val="tx1"/>
                </a:solidFill>
              </a:rPr>
              <a:t>code</a:t>
            </a:r>
            <a:r>
              <a:rPr lang="es-MX" dirty="0">
                <a:solidFill>
                  <a:schemeClr val="tx1"/>
                </a:solidFill>
              </a:rPr>
              <a:t> </a:t>
            </a:r>
            <a:r>
              <a:rPr lang="es-MX" dirty="0" err="1">
                <a:solidFill>
                  <a:schemeClr val="tx1"/>
                </a:solidFill>
              </a:rPr>
              <a:t>splitting</a:t>
            </a:r>
            <a:r>
              <a:rPr lang="es-MX" dirty="0">
                <a:solidFill>
                  <a:schemeClr val="tx1"/>
                </a:solidFill>
              </a:rPr>
              <a:t>).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Compatibilidad con Babel: </a:t>
            </a:r>
            <a:r>
              <a:rPr lang="es-MX" dirty="0">
                <a:solidFill>
                  <a:schemeClr val="tx1"/>
                </a:solidFill>
              </a:rPr>
              <a:t>Permite transformar código moderno a versiones más antiguas con babel-</a:t>
            </a:r>
            <a:r>
              <a:rPr lang="es-MX" dirty="0" err="1">
                <a:solidFill>
                  <a:schemeClr val="tx1"/>
                </a:solidFill>
              </a:rPr>
              <a:t>loader</a:t>
            </a:r>
            <a:r>
              <a:rPr lang="es-MX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Servidor de desarrollo: </a:t>
            </a:r>
            <a:r>
              <a:rPr lang="es-MX" dirty="0">
                <a:solidFill>
                  <a:schemeClr val="tx1"/>
                </a:solidFill>
              </a:rPr>
              <a:t>Con </a:t>
            </a:r>
            <a:r>
              <a:rPr lang="es-MX" dirty="0" err="1">
                <a:solidFill>
                  <a:schemeClr val="tx1"/>
                </a:solidFill>
              </a:rPr>
              <a:t>webpack</a:t>
            </a:r>
            <a:r>
              <a:rPr lang="es-MX" dirty="0">
                <a:solidFill>
                  <a:schemeClr val="tx1"/>
                </a:solidFill>
              </a:rPr>
              <a:t>-</a:t>
            </a:r>
            <a:r>
              <a:rPr lang="es-MX" dirty="0" err="1">
                <a:solidFill>
                  <a:schemeClr val="tx1"/>
                </a:solidFill>
              </a:rPr>
              <a:t>dev</a:t>
            </a:r>
            <a:r>
              <a:rPr lang="es-MX" dirty="0">
                <a:solidFill>
                  <a:schemeClr val="tx1"/>
                </a:solidFill>
              </a:rPr>
              <a:t>-server, puedes hacer recarga en vivo (</a:t>
            </a:r>
            <a:r>
              <a:rPr lang="es-MX" dirty="0" err="1">
                <a:solidFill>
                  <a:schemeClr val="tx1"/>
                </a:solidFill>
              </a:rPr>
              <a:t>hot</a:t>
            </a:r>
            <a:r>
              <a:rPr lang="es-MX" dirty="0">
                <a:solidFill>
                  <a:schemeClr val="tx1"/>
                </a:solidFill>
              </a:rPr>
              <a:t> </a:t>
            </a:r>
            <a:r>
              <a:rPr lang="es-MX" dirty="0" err="1">
                <a:solidFill>
                  <a:schemeClr val="tx1"/>
                </a:solidFill>
              </a:rPr>
              <a:t>reload</a:t>
            </a:r>
            <a:r>
              <a:rPr lang="es-MX" dirty="0">
                <a:solidFill>
                  <a:schemeClr val="tx1"/>
                </a:solidFill>
              </a:rPr>
              <a:t>).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Carga de recursos: </a:t>
            </a:r>
            <a:r>
              <a:rPr lang="es-MX" dirty="0">
                <a:solidFill>
                  <a:schemeClr val="tx1"/>
                </a:solidFill>
              </a:rPr>
              <a:t>Webpack puede procesar archivos CSS, imágenes y fuentes mediante </a:t>
            </a:r>
            <a:r>
              <a:rPr lang="es-MX" dirty="0" err="1">
                <a:solidFill>
                  <a:schemeClr val="tx1"/>
                </a:solidFill>
              </a:rPr>
              <a:t>loaders</a:t>
            </a:r>
            <a:r>
              <a:rPr lang="es-MX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620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A937B-1480-4A0E-9EBF-7EADDE1C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Instalación de </a:t>
            </a:r>
            <a:r>
              <a:rPr lang="es-MX" b="1" dirty="0" err="1"/>
              <a:t>webpack</a:t>
            </a:r>
            <a:endParaRPr lang="es-MX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A9A56E-96D7-40B2-9EE6-D34A39CD2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1261532"/>
            <a:ext cx="10009189" cy="3225799"/>
          </a:xfrm>
        </p:spPr>
        <p:txBody>
          <a:bodyPr>
            <a:normAutofit/>
          </a:bodyPr>
          <a:lstStyle/>
          <a:p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npm</a:t>
            </a:r>
            <a:r>
              <a:rPr lang="es-MX" sz="2400" b="1" i="0" cap="none" dirty="0">
                <a:solidFill>
                  <a:schemeClr val="tx1"/>
                </a:solidFill>
                <a:effectLst/>
                <a:latin typeface="SFMono-Regular"/>
              </a:rPr>
              <a:t> i --</a:t>
            </a:r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save-dev</a:t>
            </a:r>
            <a:r>
              <a:rPr lang="es-MX" sz="2400" b="1" i="0" cap="none" dirty="0">
                <a:solidFill>
                  <a:schemeClr val="tx1"/>
                </a:solidFill>
                <a:effectLst/>
                <a:latin typeface="SFMono-Regular"/>
              </a:rPr>
              <a:t> </a:t>
            </a:r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webpack</a:t>
            </a:r>
            <a:r>
              <a:rPr lang="es-MX" sz="2400" b="1" i="0" cap="none" dirty="0">
                <a:solidFill>
                  <a:schemeClr val="tx1"/>
                </a:solidFill>
                <a:effectLst/>
                <a:latin typeface="SFMono-Regular"/>
              </a:rPr>
              <a:t> </a:t>
            </a:r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webpack-cli</a:t>
            </a:r>
            <a:r>
              <a:rPr lang="es-MX" sz="2400" b="1" i="0" cap="none" dirty="0">
                <a:solidFill>
                  <a:schemeClr val="tx1"/>
                </a:solidFill>
                <a:effectLst/>
                <a:latin typeface="SFMono-Regular"/>
              </a:rPr>
              <a:t> </a:t>
            </a:r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webpack</a:t>
            </a:r>
            <a:r>
              <a:rPr lang="es-MX" sz="2400" b="1" i="0" cap="none" dirty="0">
                <a:solidFill>
                  <a:schemeClr val="tx1"/>
                </a:solidFill>
                <a:effectLst/>
                <a:latin typeface="SFMono-Regular"/>
              </a:rPr>
              <a:t>-</a:t>
            </a:r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dev</a:t>
            </a:r>
            <a:r>
              <a:rPr lang="es-MX" sz="2400" b="1" i="0" cap="none" dirty="0">
                <a:solidFill>
                  <a:schemeClr val="tx1"/>
                </a:solidFill>
                <a:effectLst/>
                <a:latin typeface="SFMono-Regular"/>
              </a:rPr>
              <a:t>-server babel-</a:t>
            </a:r>
            <a:r>
              <a:rPr lang="es-MX" sz="2400" b="1" i="0" cap="none" dirty="0" err="1">
                <a:solidFill>
                  <a:schemeClr val="tx1"/>
                </a:solidFill>
                <a:effectLst/>
                <a:latin typeface="SFMono-Regular"/>
              </a:rPr>
              <a:t>loader</a:t>
            </a:r>
            <a:endParaRPr lang="es-MX" sz="2400" b="1" i="0" cap="none" dirty="0">
              <a:solidFill>
                <a:schemeClr val="tx1"/>
              </a:solidFill>
              <a:effectLst/>
              <a:latin typeface="SFMono-Regular"/>
            </a:endParaRPr>
          </a:p>
          <a:p>
            <a:r>
              <a:rPr lang="es-MX" sz="2400" b="0" i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webpack</a:t>
            </a:r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  //El </a:t>
            </a:r>
            <a:r>
              <a:rPr lang="es-MX" sz="2400" b="0" i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core</a:t>
            </a:r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 de Webpack, usado para empaquetar archivos.</a:t>
            </a:r>
          </a:p>
          <a:p>
            <a:r>
              <a:rPr lang="es-MX" sz="2400" b="0" i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webpack-cli</a:t>
            </a:r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  //Proporciona comandos en la terminal para ejecutar Webpack.</a:t>
            </a:r>
          </a:p>
          <a:p>
            <a:r>
              <a:rPr lang="es-MX" sz="2400" b="0" i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webpack</a:t>
            </a:r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-</a:t>
            </a:r>
            <a:r>
              <a:rPr lang="es-MX" sz="2400" b="0" i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dev</a:t>
            </a:r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-server  //Un servidor de desarrollo con recarga en vivo.</a:t>
            </a:r>
          </a:p>
          <a:p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babel-</a:t>
            </a:r>
            <a:r>
              <a:rPr lang="es-MX" sz="2400" b="0" i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loader</a:t>
            </a:r>
            <a:r>
              <a:rPr lang="es-MX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SFMono-Regular"/>
              </a:rPr>
              <a:t>  //</a:t>
            </a:r>
            <a:r>
              <a:rPr lang="es-MX" sz="2400" b="0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SFMono-Regular"/>
              </a:rPr>
              <a:t>Permite a Webpack procesar archivos JS con Babel.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12442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2D9EC2-EEFE-40DC-A1D3-5384FBA6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Configuración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28C3CB-B324-4FD8-BB13-A17B4CC87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38867"/>
            <a:ext cx="5081588" cy="2362200"/>
          </a:xfrm>
        </p:spPr>
        <p:txBody>
          <a:bodyPr/>
          <a:lstStyle/>
          <a:p>
            <a:pPr algn="just"/>
            <a:r>
              <a:rPr lang="es-MX" dirty="0">
                <a:solidFill>
                  <a:schemeClr val="tx1"/>
                </a:solidFill>
              </a:rPr>
              <a:t>Crea un archivo </a:t>
            </a:r>
            <a:r>
              <a:rPr lang="es-MX" b="1" dirty="0">
                <a:solidFill>
                  <a:srgbClr val="FF0000"/>
                </a:solidFill>
              </a:rPr>
              <a:t>webpack.config.js </a:t>
            </a:r>
            <a:r>
              <a:rPr lang="es-MX" dirty="0">
                <a:solidFill>
                  <a:schemeClr val="tx1"/>
                </a:solidFill>
              </a:rPr>
              <a:t>en la raíz del proyecto y agrégale lo siguiente:</a:t>
            </a:r>
          </a:p>
          <a:p>
            <a:pPr algn="just"/>
            <a:endParaRPr lang="es-MX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A7296E-D667-4C69-83A2-937D3947DA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03" t="6790" r="6726" b="6790"/>
          <a:stretch/>
        </p:blipFill>
        <p:spPr>
          <a:xfrm>
            <a:off x="6005073" y="499533"/>
            <a:ext cx="5502715" cy="54948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749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DE773-50C6-48F1-A4D8-DE33D5D5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Configuración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3BBD6-1F78-49A7-86C9-427B622AE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58333"/>
            <a:ext cx="8534400" cy="3242734"/>
          </a:xfrm>
        </p:spPr>
        <p:txBody>
          <a:bodyPr/>
          <a:lstStyle/>
          <a:p>
            <a:r>
              <a:rPr lang="es-MX" sz="2400" b="1" dirty="0">
                <a:solidFill>
                  <a:schemeClr val="tx1"/>
                </a:solidFill>
              </a:rPr>
              <a:t>Modifica el archivo </a:t>
            </a:r>
            <a:r>
              <a:rPr lang="es-MX" sz="2400" b="1" dirty="0" err="1">
                <a:solidFill>
                  <a:srgbClr val="FF0000"/>
                </a:solidFill>
              </a:rPr>
              <a:t>package.json</a:t>
            </a:r>
            <a:r>
              <a:rPr lang="es-MX" sz="2400" b="1" dirty="0">
                <a:solidFill>
                  <a:srgbClr val="FF0000"/>
                </a:solidFill>
              </a:rPr>
              <a:t> </a:t>
            </a:r>
            <a:r>
              <a:rPr lang="es-MX" sz="2400" b="1" dirty="0">
                <a:solidFill>
                  <a:schemeClr val="tx1"/>
                </a:solidFill>
              </a:rPr>
              <a:t>para añadir scripts: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"scripts": {  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	"build": "webpack",  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	"dev": "webpack serve --open“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  <a:endParaRPr lang="es-MX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520821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137</TotalTime>
  <Words>567</Words>
  <Application>Microsoft Office PowerPoint</Application>
  <PresentationFormat>Panorámica</PresentationFormat>
  <Paragraphs>66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Century Gothic</vt:lpstr>
      <vt:lpstr>SFMono-Regular</vt:lpstr>
      <vt:lpstr>Wingdings 3</vt:lpstr>
      <vt:lpstr>Sector</vt:lpstr>
      <vt:lpstr>Preparación del entorno de desarrollo</vt:lpstr>
      <vt:lpstr>requisitos</vt:lpstr>
      <vt:lpstr>ECMASCRIPT 6</vt:lpstr>
      <vt:lpstr>¿Qué es ecmascript?</vt:lpstr>
      <vt:lpstr>Ventajas de ECMAScript</vt:lpstr>
      <vt:lpstr>¿Por Qué Es Necesario Transformar El Código Js?</vt:lpstr>
      <vt:lpstr>¿Qué es babel?</vt:lpstr>
      <vt:lpstr>Instalación De Babel</vt:lpstr>
      <vt:lpstr>Configuración</vt:lpstr>
      <vt:lpstr>Configuración</vt:lpstr>
      <vt:lpstr>¿Qué es Webpack?</vt:lpstr>
      <vt:lpstr>¿Para qué se usa?</vt:lpstr>
      <vt:lpstr>Instalación de webpack</vt:lpstr>
      <vt:lpstr>Configuración</vt:lpstr>
      <vt:lpstr>Configuración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ECMASCRIPT 6</dc:title>
  <dc:creator>Diego Sahashi</dc:creator>
  <cp:lastModifiedBy>Diego Sahashi</cp:lastModifiedBy>
  <cp:revision>16</cp:revision>
  <dcterms:created xsi:type="dcterms:W3CDTF">2025-01-30T02:51:33Z</dcterms:created>
  <dcterms:modified xsi:type="dcterms:W3CDTF">2026-09-21T06:48:55Z</dcterms:modified>
</cp:coreProperties>
</file>